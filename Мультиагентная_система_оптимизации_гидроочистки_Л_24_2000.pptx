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JetBrains Mono"/>
      <p:bold r:id="rId12"/>
    </p:embeddedFont>
    <p:embeddedFont>
      <p:font typeface="Montserrat" pitchFamily="2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9"/>
    <p:restoredTop sz="94691"/>
  </p:normalViewPr>
  <p:slideViewPr>
    <p:cSldViewPr snapToGrid="0" snapToObjects="1">
      <p:cViewPr>
        <p:scale>
          <a:sx n="126" d="100"/>
          <a:sy n="126" d="100"/>
        </p:scale>
        <p:origin x="-456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952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600700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34425" y="457200"/>
            <a:ext cx="153352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82250" y="457200"/>
            <a:ext cx="1200150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1957536"/>
            <a:ext cx="2247900" cy="276225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509938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12" y="2109787"/>
            <a:ext cx="4440287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637" y="2119312"/>
            <a:ext cx="4421237" cy="2266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509587"/>
            <a:ext cx="328017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НЕФТЕКОД 2.0 • ЗАЩИТА РЕШЕНИЯ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7775" y="514350"/>
            <a:ext cx="1362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JetBrains Mono"/>
              </a:rPr>
              <a:t>Установка Л-24/2000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954996"/>
            <a:ext cx="21145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 err="1">
                <a:solidFill>
                  <a:srgbClr val="1D4ED8"/>
                </a:solidFill>
                <a:latin typeface="Montserrat"/>
              </a:rPr>
              <a:t>Питч-сессия</a:t>
            </a:r>
            <a:r>
              <a:rPr sz="900" b="1" i="0" u="none" dirty="0">
                <a:solidFill>
                  <a:srgbClr val="1D4ED8"/>
                </a:solidFill>
                <a:latin typeface="Montserrat"/>
              </a:rPr>
              <a:t> </a:t>
            </a:r>
            <a:r>
              <a:rPr sz="900" b="1" i="0" u="none" dirty="0" err="1">
                <a:solidFill>
                  <a:srgbClr val="1D4ED8"/>
                </a:solidFill>
                <a:latin typeface="Montserrat"/>
              </a:rPr>
              <a:t>команды</a:t>
            </a:r>
            <a:r>
              <a:rPr sz="900" b="1" i="0" u="none" dirty="0">
                <a:solidFill>
                  <a:srgbClr val="1D4ED8"/>
                </a:solidFill>
                <a:latin typeface="Montserrat"/>
              </a:rPr>
              <a:t> </a:t>
            </a:r>
            <a:r>
              <a:rPr sz="900" b="1" i="0" u="none" dirty="0" err="1">
                <a:solidFill>
                  <a:srgbClr val="1D4ED8"/>
                </a:solidFill>
                <a:latin typeface="Montserrat"/>
              </a:rPr>
              <a:t>разработки</a:t>
            </a:r>
            <a:endParaRPr sz="900" b="1" i="0" u="none" dirty="0">
              <a:solidFill>
                <a:srgbClr val="1D4ED8"/>
              </a:solidFill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2367111"/>
            <a:ext cx="6599106" cy="1302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Montserrat"/>
              </a:rPr>
              <a:t>Мультиагентная система предиктивной оптимизации установки гидроочистки ДТ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822352"/>
            <a:ext cx="6284862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475569"/>
                </a:solidFill>
                <a:latin typeface="Montserrat"/>
              </a:rPr>
              <a:t>Баланс качества Евро-5, максимальной выработки и защиты оборудования в режиме реального времени.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895" y="5848350"/>
            <a:ext cx="105637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1" i="0" u="none" dirty="0" err="1">
                <a:solidFill>
                  <a:srgbClr val="0F172A"/>
                </a:solidFill>
                <a:latin typeface="Montserrat"/>
              </a:rPr>
              <a:t>Команда</a:t>
            </a:r>
            <a:r>
              <a:rPr lang="ru-RU" sz="975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lang="ru-RU" sz="975" b="1" i="0" u="none" dirty="0" err="1">
                <a:solidFill>
                  <a:srgbClr val="0F172A"/>
                </a:solidFill>
                <a:latin typeface="Montserrat"/>
              </a:rPr>
              <a:t>Хихик</a:t>
            </a:r>
            <a:endParaRPr sz="975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93993" y="6019800"/>
            <a:ext cx="225028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0" i="0" u="none" dirty="0">
                <a:solidFill>
                  <a:srgbClr val="64748B"/>
                </a:solidFill>
                <a:latin typeface="JetBrains Mono"/>
              </a:rPr>
              <a:t>Л-24/2000 • </a:t>
            </a:r>
            <a:r>
              <a:rPr sz="825" b="0" i="0" u="none" dirty="0" err="1">
                <a:solidFill>
                  <a:srgbClr val="64748B"/>
                </a:solidFill>
                <a:latin typeface="JetBrains Mono"/>
              </a:rPr>
              <a:t>Реакторный</a:t>
            </a:r>
            <a:r>
              <a:rPr sz="825" b="0" i="0" u="none" dirty="0">
                <a:solidFill>
                  <a:srgbClr val="64748B"/>
                </a:solidFill>
                <a:latin typeface="JetBrains Mono"/>
              </a:rPr>
              <a:t> </a:t>
            </a:r>
            <a:r>
              <a:rPr sz="825" b="0" i="0" u="none" dirty="0" err="1">
                <a:solidFill>
                  <a:srgbClr val="64748B"/>
                </a:solidFill>
                <a:latin typeface="JetBrains Mono"/>
              </a:rPr>
              <a:t>блок</a:t>
            </a:r>
            <a:endParaRPr sz="825" b="0" i="0" u="none" dirty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7725" y="5781675"/>
            <a:ext cx="1464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Montserrat"/>
              </a:rPr>
              <a:t>СКОРОСТЬ ЦИКЛА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5943600"/>
            <a:ext cx="146446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JetBrains Mono"/>
              </a:rPr>
              <a:t>&lt; 2.0 сек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6500" y="578167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Montserrat"/>
              </a:rPr>
              <a:t>ИНТЕРПРЕТИРУЕМОСТЬ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6500" y="5943600"/>
            <a:ext cx="1905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JetBrains Mono"/>
              </a:rPr>
              <a:t>100% 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700" y="5781675"/>
            <a:ext cx="17025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Montserrat"/>
              </a:rPr>
              <a:t>ПРИНЦИП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7700" y="5943600"/>
            <a:ext cx="17025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DC2626"/>
                </a:solidFill>
                <a:latin typeface="JetBrains Mono"/>
              </a:rPr>
              <a:t>Safety Veto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0078"/>
            <a:ext cx="109728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043189"/>
            <a:ext cx="3530649" cy="1357610"/>
          </a:xfrm>
          <a:prstGeom prst="roundRect">
            <a:avLst>
              <a:gd name="adj" fmla="val 70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5043189"/>
            <a:ext cx="3530649" cy="1357610"/>
          </a:xfrm>
          <a:prstGeom prst="roundRect">
            <a:avLst>
              <a:gd name="adj" fmla="val 70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5043189"/>
            <a:ext cx="3530649" cy="1357610"/>
          </a:xfrm>
          <a:prstGeom prst="roundRect">
            <a:avLst>
              <a:gd name="adj" fmla="val 70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868" y="3053953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62" y="3277790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918" y="3053953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277790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343" y="3053953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037" y="3277790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4581" y="3053953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243214"/>
            <a:ext cx="32385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0774" y="5243214"/>
            <a:ext cx="323850" cy="3238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1924" y="5243214"/>
            <a:ext cx="323850" cy="3238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0" y="5328939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7449" y="5328939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8599" y="5328939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Технологический вызов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85800"/>
            <a:ext cx="115824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Управление при запаздывании анализов и многомерных рисках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711053"/>
            <a:ext cx="113442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JetBrains Mono"/>
              </a:rPr>
              <a:t>КРИТИЧЕСКИЙ ЛАГ ОБРАТНОЙ СВЯЗИ В ТРАДИЦИОННОМ КОНТУРЕ УПРАВЛЕНИЯ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5662314"/>
            <a:ext cx="3225849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Поточные анализаторы дрейфуют, а ЛИМС опаздывает. Режим ведется с избыточным температурным запасом.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774" y="5662314"/>
            <a:ext cx="3225849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Снижение T6 грозит браком серы (&gt;10 мг/кг), повышение — перерасходом газа и дезактивацией катализатора.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1924" y="5662314"/>
            <a:ext cx="3225849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122 взаимосвязанных тега: циркуляция ВСГ, перепады давлений реактора и температурный градиент печи.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245" y="3320653"/>
            <a:ext cx="29467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 err="1">
                <a:solidFill>
                  <a:srgbClr val="0F172A"/>
                </a:solidFill>
                <a:latin typeface="Montserrat"/>
              </a:rPr>
              <a:t>Возмущение</a:t>
            </a:r>
            <a:r>
              <a:rPr sz="105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1050" b="1" i="0" u="none" dirty="0" err="1">
                <a:solidFill>
                  <a:srgbClr val="0F172A"/>
                </a:solidFill>
                <a:latin typeface="Montserrat"/>
              </a:rPr>
              <a:t>сырья</a:t>
            </a:r>
            <a:endParaRPr sz="105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9245" y="3530203"/>
            <a:ext cx="29467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Montserrat"/>
              </a:rPr>
              <a:t>Скачок серы в питании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482" y="3320653"/>
            <a:ext cx="29467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Montserrat"/>
              </a:rPr>
              <a:t>Транспортный лаг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482" y="3530203"/>
            <a:ext cx="29467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Montserrat"/>
              </a:rPr>
              <a:t>45–60 мин по аппаратам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3720" y="3320653"/>
            <a:ext cx="29467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Montserrat"/>
              </a:rPr>
              <a:t>Анализ ЛИМС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3720" y="3530203"/>
            <a:ext cx="29467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Montserrat"/>
              </a:rPr>
              <a:t>Задержка от 2 до 4 часов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5957" y="3320653"/>
            <a:ext cx="29467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C2626"/>
                </a:solidFill>
                <a:latin typeface="Montserrat"/>
              </a:rPr>
              <a:t>Опоздавшая реакция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5957" y="3530203"/>
            <a:ext cx="29467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Montserrat"/>
              </a:rPr>
              <a:t>Некондиция в резервуаре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8725" y="5314652"/>
            <a:ext cx="217527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Слепое управление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49874" y="5314652"/>
            <a:ext cx="182522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Конфликт целей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1024" y="5314652"/>
            <a:ext cx="20502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Сложность КИПиА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00601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06785"/>
            <a:ext cx="2566838" cy="3238500"/>
          </a:xfrm>
          <a:prstGeom prst="roundRect">
            <a:avLst>
              <a:gd name="adj" fmla="val 371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24564" y="1906785"/>
            <a:ext cx="3157835" cy="3238500"/>
          </a:xfrm>
          <a:prstGeom prst="roundRect">
            <a:avLst>
              <a:gd name="adj" fmla="val 301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625" y="4649985"/>
            <a:ext cx="2166788" cy="295275"/>
          </a:xfrm>
          <a:prstGeom prst="roundRect">
            <a:avLst>
              <a:gd name="adj" fmla="val 1935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33638" y="1906785"/>
            <a:ext cx="4333726" cy="1562100"/>
          </a:xfrm>
          <a:prstGeom prst="roundRect">
            <a:avLst>
              <a:gd name="adj" fmla="val 609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33638" y="3583185"/>
            <a:ext cx="4333726" cy="1562100"/>
          </a:xfrm>
          <a:prstGeom prst="roundRect">
            <a:avLst>
              <a:gd name="adj" fmla="val 609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24589" y="4630935"/>
            <a:ext cx="2757785" cy="314325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38538" y="2335410"/>
            <a:ext cx="752475" cy="161925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05238" y="4083248"/>
            <a:ext cx="695325" cy="161925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114901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838" y="3440310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764" y="3440310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Архитектура системы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Иерархия принятия решений с принципом Safety Veto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6124426"/>
            <a:ext cx="11087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Montserrat"/>
              </a:rPr>
              <a:t>Ключевое правило: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Никакая экономическая выгода не может обойти право вето Агента надёжности при риске нарушения коридоров безопасности.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106810"/>
            <a:ext cx="2262038" cy="1205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Montserrat"/>
              </a:rPr>
              <a:t>Этап 01 • Вход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026" y="4707135"/>
            <a:ext cx="251798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334155"/>
                </a:solidFill>
                <a:latin typeface="Montserrat"/>
              </a:rPr>
              <a:t>Период опроса: 60 сек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4589" y="2106810"/>
            <a:ext cx="2853035" cy="126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Montserrat"/>
              </a:rPr>
              <a:t>Этап 03 • Оркестрация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7016" y="4688085"/>
            <a:ext cx="333293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369A1"/>
                </a:solidFill>
                <a:latin typeface="Montserrat"/>
              </a:rPr>
              <a:t>Streamlit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363985"/>
            <a:ext cx="28439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DCS &amp; Feature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640210"/>
            <a:ext cx="2708485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Валидация 122 тегов КИП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2889646"/>
            <a:ext cx="2708485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Физико-химические ВАК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3139082"/>
            <a:ext cx="2708485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Лаговые EMA-признаки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2039" y="2540198"/>
            <a:ext cx="8191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JetBrains Mono"/>
              </a:rPr>
              <a:t>P(S)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2039" y="4216598"/>
            <a:ext cx="8191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JetBrains Mono"/>
              </a:rPr>
              <a:t>VETO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4589" y="2363985"/>
            <a:ext cx="35674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Optimization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4589" y="2621160"/>
            <a:ext cx="3447231" cy="159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Montserrat"/>
              </a:rPr>
              <a:t>• Парето-поиск оптимальных уставок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4589" y="2838301"/>
            <a:ext cx="285303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Montserrat"/>
              </a:rPr>
              <a:t>• Приоритет: Безопасность &gt; Качество &gt; Маржа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4589" y="3215431"/>
            <a:ext cx="3447231" cy="159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Montserrat"/>
              </a:rPr>
              <a:t>• Формирование XAI-объяснения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5563" y="2535435"/>
            <a:ext cx="45628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Прогноз серы на +60 мин и риск P(S &gt; 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5563" y="2754510"/>
            <a:ext cx="357172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Montserrat"/>
              </a:rPr>
              <a:t>Ансамбль LightGBM с расчетом доверительного интервала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5563" y="4283273"/>
            <a:ext cx="44005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Мониторинг 122 регламентных коридоров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5563" y="4502348"/>
            <a:ext cx="4191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Montserrat"/>
              </a:rPr>
              <a:t>Индекс технологического риска и защита катализатора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5563" y="2349698"/>
            <a:ext cx="11525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JetBrains Mono"/>
              </a:rPr>
              <a:t>QUALITY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738" y="2354460"/>
            <a:ext cx="6953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Montserrat"/>
              </a:rPr>
              <a:t>ML + Химия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5563" y="4097535"/>
            <a:ext cx="14192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JetBrains Mono"/>
              </a:rPr>
              <a:t>RELIABILITY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1438" y="4102298"/>
            <a:ext cx="6381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B91C1C"/>
                </a:solidFill>
                <a:latin typeface="Montserrat"/>
              </a:rPr>
              <a:t>Safety Veto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34815"/>
            <a:ext cx="6059685" cy="2372915"/>
          </a:xfrm>
          <a:prstGeom prst="roundRect">
            <a:avLst>
              <a:gd name="adj" fmla="val 48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91076"/>
            <a:ext cx="3530649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30749" y="5991076"/>
            <a:ext cx="3530649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1899" y="5991076"/>
            <a:ext cx="3530649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8675" y="3564731"/>
            <a:ext cx="5621535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97885" y="2334815"/>
            <a:ext cx="4684514" cy="1119782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97885" y="3587948"/>
            <a:ext cx="4684514" cy="1119782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5991076"/>
            <a:ext cx="28575" cy="409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0749" y="5991076"/>
            <a:ext cx="28575" cy="409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51899" y="5991076"/>
            <a:ext cx="28575" cy="409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97660" y="2553890"/>
            <a:ext cx="1352550" cy="1905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860" y="2530078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860" y="3783210"/>
            <a:ext cx="1905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Инженерия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Физическая адекватность и калибровка реальных границ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5991076"/>
            <a:ext cx="421090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JetBrains Mono"/>
              </a:rPr>
              <a:t>0 ложных вето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6257776"/>
            <a:ext cx="42109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После перекалибровки нормальных диапазонов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2674" y="5991076"/>
            <a:ext cx="421090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JetBrains Mono"/>
              </a:rPr>
              <a:t>100% покрытие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2674" y="6257776"/>
            <a:ext cx="42109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Ключевых свойств топлива формулами ВАК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3824" y="5991076"/>
            <a:ext cx="39781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JetBrains Mono"/>
              </a:rPr>
              <a:t>±0.4 мг/кг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3824" y="6257776"/>
            <a:ext cx="3978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MAE прогноза остаточной серы на тесте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2858690"/>
            <a:ext cx="571678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В учебных бенчмарках часто ошибочно закладывают диапазон реактора 295–305°C. Наш анализ телеметрии Л-24/2000 выявил фактическую рабочую медиану </a:t>
            </a:r>
            <a:r>
              <a:rPr sz="975" b="1" i="0" u="none">
                <a:solidFill>
                  <a:srgbClr val="475569"/>
                </a:solidFill>
                <a:latin typeface="Montserrat"/>
              </a:rPr>
              <a:t>360°C</a:t>
            </a:r>
            <a:r>
              <a:rPr sz="975" b="0" i="0" u="none">
                <a:solidFill>
                  <a:srgbClr val="475569"/>
                </a:solidFill>
                <a:latin typeface="Montserrat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8860" y="2753915"/>
            <a:ext cx="4417814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Непрерывный расчет физико-химических показателей: плотность D15, фракции Т50/Т90/Т95, предельная фильтруемость (CFPP) и температура вспышки.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8860" y="4007048"/>
            <a:ext cx="4417814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Экспоненциальные скользящие средние (EMA 15/30/60 мин), дифференциальные перепады давления по слоям и динамическое отношение ВСГ/сырье.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2553890"/>
            <a:ext cx="36004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ontserrat"/>
              </a:rPr>
              <a:t>Устранение ошибки границ Т6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3860" y="2582465"/>
            <a:ext cx="1295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JetBrains Mono"/>
              </a:rPr>
              <a:t>Реальный регламент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3707606"/>
            <a:ext cx="2071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Учебные границы (ошибка):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8135" y="3707606"/>
            <a:ext cx="152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JetBrains Mono"/>
              </a:rPr>
              <a:t>295.0 – 305.0 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3945731"/>
            <a:ext cx="2131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Montserrat"/>
              </a:rPr>
              <a:t>Откалиброванный коридор: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8135" y="3945731"/>
            <a:ext cx="152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345.0 – 375.0 °C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" y="4183856"/>
            <a:ext cx="1333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Montserrat"/>
              </a:rPr>
              <a:t>Расход сырья F9: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1935" y="4183856"/>
            <a:ext cx="161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JetBrains Mono"/>
              </a:rPr>
              <a:t>160.0 – 280.0 т/ч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8410" y="2515790"/>
            <a:ext cx="336292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Виртуальные анализаторы (ВАК)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5560" y="3768923"/>
            <a:ext cx="42130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Компенсация гидродинамического лага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91225"/>
            <a:ext cx="10972800" cy="409575"/>
          </a:xfrm>
          <a:prstGeom prst="roundRect">
            <a:avLst>
              <a:gd name="adj" fmla="val 18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51794"/>
            <a:ext cx="3530649" cy="2138957"/>
          </a:xfrm>
          <a:prstGeom prst="roundRect">
            <a:avLst>
              <a:gd name="adj" fmla="val 53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451794"/>
            <a:ext cx="3530649" cy="2138957"/>
          </a:xfrm>
          <a:prstGeom prst="roundRect">
            <a:avLst>
              <a:gd name="adj" fmla="val 53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451794"/>
            <a:ext cx="3530649" cy="2138957"/>
          </a:xfrm>
          <a:prstGeom prst="roundRect">
            <a:avLst>
              <a:gd name="adj" fmla="val 53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689919"/>
            <a:ext cx="36195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774" y="2689919"/>
            <a:ext cx="361950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2689919"/>
            <a:ext cx="361950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7" y="2789932"/>
            <a:ext cx="16192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787" y="2789932"/>
            <a:ext cx="16192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936" y="2789932"/>
            <a:ext cx="161925" cy="161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Интеллектуальное ядро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Три специализированных агента: роли и математика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6119812"/>
            <a:ext cx="1352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JetBrains Mono"/>
              </a:rPr>
              <a:t>Целевая функция: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6115050"/>
            <a:ext cx="55816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J = w1·Yield(F9) - w2·FuelGas(T6) - w3·Risk(Reliability) → 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185219"/>
            <a:ext cx="410891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ontserrat"/>
              </a:rPr>
              <a:t>Quality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432869"/>
            <a:ext cx="39132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JetBrains Mono"/>
              </a:rPr>
              <a:t>Химия и спецификация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680519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Прогноз серы на 60 мин вперед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929955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Расчет риска брака P(S &gt; 10 мг/кг)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179391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LightGBM + калибровка погрешности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774" y="3185219"/>
            <a:ext cx="410891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ontserrat"/>
              </a:rPr>
              <a:t>Reliability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774" y="3432869"/>
            <a:ext cx="39132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JetBrains Mono"/>
              </a:rPr>
              <a:t>Защита оборудования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774" y="3680519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Контроль 122 параметров регламента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0774" y="3929955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Индекс технологического риска [0..1]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0774" y="4179391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Безусловное право Veto на уставки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1924" y="3185219"/>
            <a:ext cx="39400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ontserrat"/>
              </a:rPr>
              <a:t>Optimization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1924" y="3432869"/>
            <a:ext cx="39132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JetBrains Mono"/>
              </a:rPr>
              <a:t>Экономика и Парето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1924" y="3680519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Генерация сотен вариантов уставок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1924" y="3929955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Построение Парето-фронта решений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1924" y="4179391"/>
            <a:ext cx="391324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• Максимизация маржи при минимуме ТЭР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10126"/>
            <a:ext cx="10972800" cy="390525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74986"/>
            <a:ext cx="5820667" cy="2511623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58867" y="2274986"/>
            <a:ext cx="4923532" cy="2511623"/>
          </a:xfrm>
          <a:prstGeom prst="roundRect">
            <a:avLst>
              <a:gd name="adj" fmla="val 4550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77942" y="4215110"/>
            <a:ext cx="4485382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8675" y="2798861"/>
            <a:ext cx="5382517" cy="823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8675" y="4338935"/>
            <a:ext cx="132397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247900" y="4338935"/>
            <a:ext cx="1257300" cy="228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00450" y="4338935"/>
            <a:ext cx="1190625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8675" y="2798861"/>
            <a:ext cx="38100" cy="8239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3272135"/>
            <a:ext cx="4485382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77942" y="3605510"/>
            <a:ext cx="4485382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77942" y="3938885"/>
            <a:ext cx="4485382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503586"/>
            <a:ext cx="2190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942" y="2503586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Интерпретируемость и надежность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Прозрачность рекомендаций (XAI) и безопасный отказ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6129188"/>
            <a:ext cx="2452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Montserrat"/>
              </a:rPr>
              <a:t>Принцип безопасного отказа: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1100" y="6124426"/>
            <a:ext cx="3238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Fail-Safe State &gt; Blind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470" y="4291310"/>
            <a:ext cx="545432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BE123C"/>
                </a:solidFill>
                <a:latin typeface="Montserrat"/>
              </a:rPr>
              <a:t>Журнал аудита: logs/orchestrator.log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3756124"/>
            <a:ext cx="6728147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Оператор видит физическую связь параметров до подтверждения уставки.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386560"/>
            <a:ext cx="1228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JetBrains Mono"/>
              </a:rPr>
              <a:t>Энергосберегающий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3150" y="4386560"/>
            <a:ext cx="11620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JetBrains Mono"/>
              </a:rPr>
              <a:t>Сбалансированный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5700" y="4386560"/>
            <a:ext cx="1095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JetBrains Mono"/>
              </a:rPr>
              <a:t>Макс. выработка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942" y="2798861"/>
            <a:ext cx="4580632" cy="345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Если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входные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данные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недостоверны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,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система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1" i="0" u="none" dirty="0" err="1">
                <a:solidFill>
                  <a:srgbClr val="4C0519"/>
                </a:solidFill>
                <a:latin typeface="Montserrat"/>
              </a:rPr>
              <a:t>не</a:t>
            </a:r>
            <a:r>
              <a:rPr sz="975" b="1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1" i="0" u="none" dirty="0" err="1">
                <a:solidFill>
                  <a:srgbClr val="4C0519"/>
                </a:solidFill>
                <a:latin typeface="Montserrat"/>
              </a:rPr>
              <a:t>угадывает</a:t>
            </a:r>
            <a:r>
              <a:rPr sz="975" b="1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1" i="0" u="none" dirty="0" err="1">
                <a:solidFill>
                  <a:srgbClr val="4C0519"/>
                </a:solidFill>
                <a:latin typeface="Montserrat"/>
              </a:rPr>
              <a:t>режимы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,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а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открыто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lang="ru-RU" sz="975" b="0" i="0" u="none" dirty="0">
                <a:solidFill>
                  <a:srgbClr val="4C0519"/>
                </a:solidFill>
                <a:latin typeface="Montserrat"/>
              </a:rPr>
              <a:t>выводит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причину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 </a:t>
            </a:r>
            <a:r>
              <a:rPr sz="975" b="0" i="0" u="none" dirty="0" err="1">
                <a:solidFill>
                  <a:srgbClr val="4C0519"/>
                </a:solidFill>
                <a:latin typeface="Montserrat"/>
              </a:rPr>
              <a:t>отказа</a:t>
            </a:r>
            <a:r>
              <a:rPr sz="975" b="0" i="0" u="none" dirty="0">
                <a:solidFill>
                  <a:srgbClr val="4C0519"/>
                </a:solidFill>
                <a:latin typeface="Montserrat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2494061"/>
            <a:ext cx="3800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ontserrat"/>
              </a:rPr>
              <a:t>Объяснение для оператора (XAI)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" y="2932211"/>
            <a:ext cx="5172967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1" u="none">
                <a:solidFill>
                  <a:srgbClr val="1E293B"/>
                </a:solidFill>
                <a:latin typeface="Montserrat"/>
              </a:rPr>
              <a:t>«Повышение T6 на +2.5°C (до 362.5°C) снизит серу с 9.2 до 7.4 мг/кг. Выбран оптимум между качеством, выработкой (F9 = 218.0 м³/ч) и минимальным риском оборудования (0.22, LOW)».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4642" y="2494061"/>
            <a:ext cx="35504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F1239"/>
                </a:solidFill>
                <a:latin typeface="Montserrat"/>
              </a:rPr>
              <a:t>Режим NO_RECOMMENDATION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3192" y="3338810"/>
            <a:ext cx="439013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Montserrat"/>
              </a:rPr>
              <a:t>• Просрочка анализа ЛИМС (&gt; 120 минут)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3192" y="3672185"/>
            <a:ext cx="439013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Montserrat"/>
              </a:rPr>
              <a:t>• Расхождение ПАК и ЛИМС более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3192" y="4005560"/>
            <a:ext cx="439013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Montserrat"/>
              </a:rPr>
              <a:t>• Зависание или отказ критических тегов КИП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68723"/>
            <a:ext cx="10972800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767238"/>
            <a:ext cx="3555950" cy="561975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7950" y="5695801"/>
            <a:ext cx="3555950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5767238"/>
            <a:ext cx="3555950" cy="561975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182225" y="2425898"/>
            <a:ext cx="1219200" cy="20955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90770" y="3387923"/>
            <a:ext cx="34290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690770" y="3768923"/>
            <a:ext cx="34290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90770" y="4149923"/>
            <a:ext cx="34290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0575" y="2968823"/>
          <a:ext cx="10610847" cy="1428750"/>
        </p:xfrm>
        <a:graphic>
          <a:graphicData uri="http://schemas.openxmlformats.org/drawingml/2006/table">
            <a:tbl>
              <a:tblPr/>
              <a:tblGrid>
                <a:gridCol w="1264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6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4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475569"/>
                          </a:solidFill>
                          <a:latin typeface="Montserrat"/>
                        </a:rPr>
                        <a:t>Тег КИПиА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475569"/>
                          </a:solidFill>
                          <a:latin typeface="Montserrat"/>
                        </a:rPr>
                        <a:t>Параметр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475569"/>
                          </a:solidFill>
                          <a:latin typeface="Montserrat"/>
                        </a:rPr>
                        <a:t>Текущее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475569"/>
                          </a:solidFill>
                          <a:latin typeface="Montserrat"/>
                        </a:rPr>
                        <a:t>Рекомендация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475569"/>
                          </a:solidFill>
                          <a:latin typeface="Montserrat"/>
                        </a:rPr>
                        <a:t>Дельта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475569"/>
                          </a:solidFill>
                          <a:latin typeface="Montserrat"/>
                        </a:rPr>
                        <a:t>Вето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TI_006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F172A"/>
                          </a:solidFill>
                          <a:latin typeface="Montserrat"/>
                        </a:rPr>
                        <a:t>Температура реактора Р-1 (Т6)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JetBrains Mono"/>
                        </a:rPr>
                        <a:t>360.0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362.5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+2.5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FIC_009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F172A"/>
                          </a:solidFill>
                          <a:latin typeface="Montserrat"/>
                        </a:rPr>
                        <a:t>Расход сырья на установку (F9)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JetBrains Mono"/>
                        </a:rPr>
                        <a:t>212.0 м³/ч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218.0 м³/ч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+6.0 м³/ч (+2.8%)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9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RATIO_H2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F172A"/>
                          </a:solidFill>
                          <a:latin typeface="Montserrat"/>
                        </a:rPr>
                        <a:t>Кратность циркуляции ВСГ/сырье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JetBrains Mono"/>
                        </a:rPr>
                        <a:t>285.0 нм³/м³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292.0 нм³/м³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+7.0 нм³/м³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Интерфейс оператора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Эргономика принятия решений за 3 секунды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8425" y="2463998"/>
            <a:ext cx="11620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JetBrains Mono"/>
              </a:rPr>
              <a:t>Цикл: #1428 •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5891063"/>
            <a:ext cx="4040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Тренды 24 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6062513"/>
            <a:ext cx="4040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История прогнозов серы, ПАК и анализов ЛИМС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9875" y="5819626"/>
            <a:ext cx="4040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Парето-слайдер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9875" y="5991076"/>
            <a:ext cx="3327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Выбор между максимальной маржой и минимальным ТЭР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8225" y="5891063"/>
            <a:ext cx="40037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Журнал аудита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225" y="6062513"/>
            <a:ext cx="400377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Фиксация принятых и отклоненных уставок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5025" y="2349698"/>
            <a:ext cx="1228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Риск серы P(S &gt; 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3300" y="2349698"/>
            <a:ext cx="12668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Индекс риска КИП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9675" y="2349698"/>
            <a:ext cx="107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Свежесть ЛИМС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2387798"/>
            <a:ext cx="12954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СТАТУС СИСТЕМЫ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5025" y="2549723"/>
            <a:ext cx="14192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3.2% (LOW)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3300" y="2549723"/>
            <a:ext cx="1464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0.22 / 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9675" y="2549723"/>
            <a:ext cx="1266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38 мин назад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2549723"/>
            <a:ext cx="819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JetBrains Mono"/>
              </a:rPr>
              <a:t>АКТИВНА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7920" y="3406973"/>
            <a:ext cx="3238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5803D"/>
                </a:solidFill>
                <a:latin typeface="JetBrains Mono"/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7920" y="3787973"/>
            <a:ext cx="3238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5803D"/>
                </a:solidFill>
                <a:latin typeface="JetBrains Mono"/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7920" y="4168973"/>
            <a:ext cx="3238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5803D"/>
                </a:solidFill>
                <a:latin typeface="JetBrains Mono"/>
              </a:rP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19651"/>
            <a:ext cx="109728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32248"/>
            <a:ext cx="2628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2032248"/>
            <a:ext cx="2628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2032248"/>
            <a:ext cx="2628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2032248"/>
            <a:ext cx="2628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156025"/>
            <a:ext cx="5372100" cy="882848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0300" y="4156025"/>
            <a:ext cx="5372100" cy="882848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156025"/>
            <a:ext cx="38100" cy="8828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4156025"/>
            <a:ext cx="38100" cy="8828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Бизнес-ценность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Экономический и технологический эффект внедрения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61937" y="6133951"/>
            <a:ext cx="12715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34155"/>
                </a:solidFill>
                <a:latin typeface="Montserrat"/>
              </a:rPr>
              <a:t>Расчетная окупаемость внедрения МАС на промышленном объекте составляет менее 4 месяцев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018" y="2232273"/>
            <a:ext cx="278606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16A34A"/>
                </a:solidFill>
                <a:latin typeface="JetBrains Mono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018" y="2670423"/>
            <a:ext cx="2786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Montserrat"/>
              </a:rPr>
              <a:t>Соответствие Евро-5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018" y="2841873"/>
            <a:ext cx="278606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Montserrat"/>
              </a:rPr>
              <a:t>Исключение риска некондиции ДТ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2318" y="2232273"/>
            <a:ext cx="278606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0284C7"/>
                </a:solidFill>
                <a:latin typeface="JetBrains Mono"/>
              </a:rPr>
              <a:t>+2.5%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2318" y="2670423"/>
            <a:ext cx="2786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Montserrat"/>
              </a:rPr>
              <a:t>Выработка ДТ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2318" y="2841873"/>
            <a:ext cx="278606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Montserrat"/>
              </a:rPr>
              <a:t>Оптимизация потока F9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3618" y="2232273"/>
            <a:ext cx="278606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0F172A"/>
                </a:solidFill>
                <a:latin typeface="JetBrains Mono"/>
              </a:rPr>
              <a:t>-4.2%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3618" y="2670423"/>
            <a:ext cx="2786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Montserrat"/>
              </a:rPr>
              <a:t>Топливный газ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3618" y="2841873"/>
            <a:ext cx="278606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Montserrat"/>
              </a:rPr>
              <a:t>Снижение перегрева в печи П-1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4918" y="2232273"/>
            <a:ext cx="278606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sz="2850" b="1" i="0" u="none">
                <a:solidFill>
                  <a:srgbClr val="0F172A"/>
                </a:solidFill>
                <a:latin typeface="JetBrains Mono"/>
              </a:rPr>
              <a:t>+6 мес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4918" y="2670423"/>
            <a:ext cx="2786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Montserrat"/>
              </a:rPr>
              <a:t>Пробег катализатора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4918" y="2841873"/>
            <a:ext cx="278606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Montserrat"/>
              </a:rPr>
              <a:t>Сглаживание термопиков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4308425"/>
            <a:ext cx="65508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Прямой операционный доход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4527500"/>
            <a:ext cx="50863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Дополнительный выпуск высокомаржинального дизельного топлива за счет безопасного приближения к пределу производительности установки.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4308425"/>
            <a:ext cx="5772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Сохранение активов и ТЭР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4527500"/>
            <a:ext cx="50863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Montserrat"/>
              </a:rPr>
              <a:t>Ликвидация «температурных качелей» снижает скорость закоксовывания катализатора и продлевает межремонтный интервал реактора.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00601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63998"/>
            <a:ext cx="5185023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44812" y="2740223"/>
            <a:ext cx="1314450" cy="27622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23223" y="2125860"/>
            <a:ext cx="5559176" cy="8572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23223" y="3097410"/>
            <a:ext cx="5559176" cy="8572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23223" y="4068960"/>
            <a:ext cx="5559176" cy="8572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148" y="2302073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148" y="3273623"/>
            <a:ext cx="1905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148" y="4245173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Инженерное качество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Надежность кода и готовность к промышленному контуру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6124426"/>
            <a:ext cx="2250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Промышленная совместимость: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8675" y="6124426"/>
            <a:ext cx="3667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JetBrains Mono"/>
              </a:rPr>
              <a:t>SCADA / DCS / РСУ Yokogawa / Honeywell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4805" y="2778323"/>
            <a:ext cx="14144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5803D"/>
                </a:solidFill>
                <a:latin typeface="Montserrat"/>
              </a:rPr>
              <a:t>PYTEST 100%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53" y="3130748"/>
            <a:ext cx="5790716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JetBrains Mono"/>
              </a:rPr>
              <a:t>128/128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753" y="3949898"/>
            <a:ext cx="579071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Montserrat"/>
              </a:rPr>
              <a:t>Автоматических тестов пройдено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753" y="4168973"/>
            <a:ext cx="57907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Montserrat"/>
              </a:rPr>
              <a:t>Юнит-тесты формул ВАК, агентов и валидаторов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148" y="2506860"/>
            <a:ext cx="600685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JetBrains Mono"/>
              </a:rPr>
              <a:t>AgentRequest • QualityAssessment • ReliabilityVeto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148" y="2678310"/>
            <a:ext cx="600685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Исключение несогласованности форматов между модулями МАС.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5148" y="3478410"/>
            <a:ext cx="600685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JetBrains Mono"/>
              </a:rPr>
              <a:t>normal • risk_regime • missing_sensors • no_solution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148" y="3649860"/>
            <a:ext cx="600685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Верификация штатной и аварийной логики перед защитой.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5148" y="4449960"/>
            <a:ext cx="600685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JetBrains Mono"/>
              </a:rPr>
              <a:t>Полный цикл расчетов &lt; 2.0 сек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5148" y="4621410"/>
            <a:ext cx="600685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Готовность к прямому подключению к промышленной шине Kafka / OPC UA.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1848" y="2287785"/>
            <a:ext cx="3800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Строгие типизированные контракты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1848" y="3259335"/>
            <a:ext cx="398799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4 сквозных интеграционных сценария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4698" y="4230885"/>
            <a:ext cx="205505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Montserrat"/>
              </a:rPr>
              <a:t>Высокая</a:t>
            </a:r>
            <a:r>
              <a:rPr sz="1125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1125" b="1" i="0" u="none" dirty="0" err="1">
                <a:solidFill>
                  <a:srgbClr val="0F172A"/>
                </a:solidFill>
                <a:latin typeface="Montserrat"/>
              </a:rPr>
              <a:t>скорость</a:t>
            </a:r>
            <a:r>
              <a:rPr sz="1125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lang="ru-RU" sz="1125" b="1" i="0" u="none" dirty="0">
                <a:solidFill>
                  <a:srgbClr val="0F172A"/>
                </a:solidFill>
                <a:latin typeface="Montserrat"/>
              </a:rPr>
              <a:t>работы</a:t>
            </a:r>
            <a:endParaRPr sz="1125" b="1" i="0" u="none" dirty="0">
              <a:solidFill>
                <a:srgbClr val="0F172A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695950"/>
            <a:ext cx="10972800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7200"/>
            <a:ext cx="2114550" cy="276225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25100" y="5891212"/>
            <a:ext cx="1019175" cy="314325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496419"/>
            <a:ext cx="3530649" cy="1186755"/>
          </a:xfrm>
          <a:prstGeom prst="roundRect">
            <a:avLst>
              <a:gd name="adj" fmla="val 642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73649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496419"/>
            <a:ext cx="35306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496419"/>
            <a:ext cx="9525" cy="118675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30724" y="3496419"/>
            <a:ext cx="9525" cy="118675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30749" y="3496419"/>
            <a:ext cx="3530649" cy="1186755"/>
          </a:xfrm>
          <a:prstGeom prst="roundRect">
            <a:avLst>
              <a:gd name="adj" fmla="val 6420"/>
            </a:avLst>
          </a:prstGeom>
          <a:solidFill>
            <a:srgbClr val="FFFFFF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0749" y="4673649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0749" y="3496419"/>
            <a:ext cx="35306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0749" y="3496419"/>
            <a:ext cx="9525" cy="118675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51874" y="3496419"/>
            <a:ext cx="9525" cy="118675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51899" y="3496419"/>
            <a:ext cx="3530649" cy="1186755"/>
          </a:xfrm>
          <a:prstGeom prst="roundRect">
            <a:avLst>
              <a:gd name="adj" fmla="val 6420"/>
            </a:avLst>
          </a:prstGeom>
          <a:solidFill>
            <a:srgbClr val="FFFFFF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1899" y="4673649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1899" y="3496419"/>
            <a:ext cx="353064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1899" y="3496419"/>
            <a:ext cx="9525" cy="118675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73023" y="3496419"/>
            <a:ext cx="9525" cy="118675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900" y="495300"/>
            <a:ext cx="1981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Нефтекод 2.0 • Итоги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48950" y="519112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Защита решения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1889075"/>
            <a:ext cx="11582400" cy="822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Montserrat"/>
              </a:rPr>
              <a:t>Интеллектуальная</a:t>
            </a:r>
            <a:r>
              <a:rPr sz="27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Montserrat"/>
              </a:rPr>
              <a:t>предиктивная</a:t>
            </a:r>
            <a:r>
              <a:rPr sz="27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Montserrat"/>
              </a:rPr>
              <a:t>оптимизация</a:t>
            </a:r>
            <a:r>
              <a:rPr sz="27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Montserrat"/>
              </a:rPr>
              <a:t>установки</a:t>
            </a:r>
            <a:r>
              <a:rPr sz="2700" b="1" i="0" u="none" dirty="0">
                <a:solidFill>
                  <a:srgbClr val="0F172A"/>
                </a:solidFill>
                <a:latin typeface="Montserrat"/>
              </a:rPr>
              <a:t> </a:t>
            </a:r>
            <a:endParaRPr lang="ru-RU" sz="2700" b="1" i="0" u="none" dirty="0">
              <a:solidFill>
                <a:srgbClr val="0F172A"/>
              </a:solidFill>
              <a:latin typeface="Montserrat"/>
            </a:endParaRPr>
          </a:p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Montserrat"/>
              </a:rPr>
              <a:t>Л-24/2000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826097"/>
            <a:ext cx="81915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Montserrat"/>
              </a:rPr>
              <a:t>Разработано, валидировано и протестировано промышленное мультиагентное решение с предиктивным контролем качества и защитой оборудования.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8450" y="5948362"/>
            <a:ext cx="847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Montserrat"/>
              </a:rPr>
              <a:t>Q&amp;A 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3667869"/>
            <a:ext cx="3282999" cy="843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Montserrat"/>
              </a:rPr>
              <a:t>Фаза 1 • Сделано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2199" y="3667869"/>
            <a:ext cx="3282999" cy="843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Montserrat"/>
              </a:rPr>
              <a:t>Фаза 2 • Пилот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3349" y="3667869"/>
            <a:ext cx="3282999" cy="843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Montserrat"/>
              </a:rPr>
              <a:t>Фаза 3 • Масштаб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5857875"/>
            <a:ext cx="598884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Спасибо за внимание!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6086475"/>
            <a:ext cx="59888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Montserrat"/>
              </a:rPr>
              <a:t>Готовы ответить на вопросы комиссии и жюри чемпионата «Нефтекод 2.0»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575" y="3944094"/>
            <a:ext cx="41589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МАС + Советчик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575" y="4182219"/>
            <a:ext cx="3263949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Montserrat"/>
              </a:rPr>
              <a:t>128 тестов, формулы ВАК, калибровка T6, Explainable AI в Streamlit.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1724" y="3944094"/>
            <a:ext cx="41589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Интеграция с РСУ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1724" y="4182219"/>
            <a:ext cx="3263949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Montserrat"/>
              </a:rPr>
              <a:t>Подключение к контуру APC/MPC для прямой выдачи уставок на регуляторы.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2874" y="3944094"/>
            <a:ext cx="3959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Online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2874" y="4182219"/>
            <a:ext cx="3263949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Montserrat"/>
              </a:rPr>
              <a:t>Непрерывная докалибровка моделей на регулярном потоке новых проб ЛИМС.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1088</Words>
  <Application>Microsoft Macintosh PowerPoint</Application>
  <PresentationFormat>Широкоэкранный</PresentationFormat>
  <Paragraphs>205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Arial</vt:lpstr>
      <vt:lpstr>JetBrains Mono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Родичева Варвара Игоревна</cp:lastModifiedBy>
  <cp:revision>4</cp:revision>
  <dcterms:created xsi:type="dcterms:W3CDTF">2013-01-27T09:14:16Z</dcterms:created>
  <dcterms:modified xsi:type="dcterms:W3CDTF">2026-09-22T18:33:25Z</dcterms:modified>
  <cp:category/>
</cp:coreProperties>
</file>